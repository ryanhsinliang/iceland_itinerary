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84300"/>
            <a:ext cx="4978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36114"/>
            <a:ext cx="10566400" cy="3909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84300"/>
            <a:ext cx="4978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36114"/>
            <a:ext cx="10566400" cy="3909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qiia2znjzdpjXEUR8" TargetMode="External"/><Relationship Id="rId1" Type="http://schemas.openxmlformats.org/officeDocument/2006/relationships/image" Target="../media/image-3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6n8Wum3DaHmKc8FX7" TargetMode="External"/><Relationship Id="rId1" Type="http://schemas.openxmlformats.org/officeDocument/2006/relationships/image" Target="../media/image-4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jmU4BWhTrD58kW9W6" TargetMode="External"/><Relationship Id="rId1" Type="http://schemas.openxmlformats.org/officeDocument/2006/relationships/image" Target="../media/image-9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C8nQEGttxNBcFmSH7" TargetMode="External"/><Relationship Id="rId1" Type="http://schemas.openxmlformats.org/officeDocument/2006/relationships/image" Target="../media/image-14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TDWiXPDqowiaksLj8" TargetMode="External"/><Relationship Id="rId1" Type="http://schemas.openxmlformats.org/officeDocument/2006/relationships/image" Target="../media/image-17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GkLPr4FMAVue4WPh9" TargetMode="External"/><Relationship Id="rId1" Type="http://schemas.openxmlformats.org/officeDocument/2006/relationships/image" Target="../media/image-23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uWBRneFTkuDSVJc68" TargetMode="External"/><Relationship Id="rId1" Type="http://schemas.openxmlformats.org/officeDocument/2006/relationships/image" Target="../media/image-25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GsAg2cGENyhGNQLB8" TargetMode="External"/><Relationship Id="rId1" Type="http://schemas.openxmlformats.org/officeDocument/2006/relationships/image" Target="../media/image-30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NyTLmXirpXkECQ3P9" TargetMode="External"/><Relationship Id="rId1" Type="http://schemas.openxmlformats.org/officeDocument/2006/relationships/image" Target="../media/image-33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7MaMzrc8goiMFiwg6" TargetMode="External"/><Relationship Id="rId1" Type="http://schemas.openxmlformats.org/officeDocument/2006/relationships/image" Target="../media/image-38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DD44QEwEjxkUjHX4A" TargetMode="External"/><Relationship Id="rId1" Type="http://schemas.openxmlformats.org/officeDocument/2006/relationships/image" Target="../media/image-42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maps.app.goo.gl/CSAqe86Ecy9tXtj38" TargetMode="External"/><Relationship Id="rId1" Type="http://schemas.openxmlformats.org/officeDocument/2006/relationships/image" Target="../media/image-45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每日行程總覽（Day 1–6）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12800" y="1303007"/>
            <a:ext cx="1079500" cy="325107"/>
          </a:xfrm>
          <a:prstGeom prst="roundRect">
            <a:avLst>
              <a:gd name="adj" fmla="val 15626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日期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43100" y="1303007"/>
            <a:ext cx="120650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0:00～出發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303007"/>
            <a:ext cx="299085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0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出發～12:00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2050" y="1303007"/>
            <a:ext cx="299085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0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12:00～回到住宿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83700" y="1303007"/>
            <a:ext cx="209550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16490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回到住宿～24:00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1678914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1/22（五）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43100" y="1678914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FBE9E2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飛行中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67891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ICN 前晚 23:00 起飛，赫爾辛基轉機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2050" y="167891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15:55 抵達 KEF → 取車 → Costco → 住宿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83700" y="1678914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252927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2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1/23（六）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43100" y="2252927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252927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首都散策：教堂、哈帕音樂廳、Perlan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2050" y="2252927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Erpsstaðir 牧場 → Reykholt 住宿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83700" y="2252927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2826941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3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1/24（日）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43100" y="2826941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82694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維德格爾米爾熔岩洞、熔岩瀑布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2050" y="282694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Sturlureykir 馬場、間歇泉、Krauma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83700" y="2826941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3400954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4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1/25（一）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43100" y="3400954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340095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退房 → Ytri Tunga 海豹沙灘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42050" y="340095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Búðir 黑教堂 → 格倫達菲厄澤住宿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83700" y="3400954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3974968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5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1/26（二）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43100" y="3974968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974968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教會山、Kirkjufellsfoss、Svöðufoss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42050" y="3974968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35921" rIns="0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Ingjaldshóll 教堂、Arnarstapi、Lóndrangar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83700" y="3974968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4548981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6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1/27（三）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943100" y="4548981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454898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退房 → Borgarnes 肉桂捲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42050" y="454898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Costco 大採購 → Selfoss 住宿泡湯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83700" y="4548981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總覽 1/2　粉色底為例外安排（飛行日、機場飯店）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每日行程總覽（Day 7–13）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12800" y="1303007"/>
            <a:ext cx="1079500" cy="325107"/>
          </a:xfrm>
          <a:prstGeom prst="roundRect">
            <a:avLst>
              <a:gd name="adj" fmla="val 15626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日期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43100" y="1303007"/>
            <a:ext cx="120650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0:00～出發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303007"/>
            <a:ext cx="299085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0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出發～12:00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2050" y="1303007"/>
            <a:ext cx="299085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0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12:00～回到住宿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83700" y="1303007"/>
            <a:ext cx="2095500" cy="325107"/>
          </a:xfrm>
          <a:prstGeom prst="roundRect">
            <a:avLst>
              <a:gd name="adj" fmla="val 15626"/>
            </a:avLst>
          </a:prstGeom>
          <a:solidFill>
            <a:srgbClr val="1B6CA8"/>
          </a:solidFill>
          <a:ln/>
        </p:spPr>
        <p:txBody>
          <a:bodyPr wrap="square" lIns="74021" tIns="35921" rIns="16490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回到住宿～24:00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1678914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7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1/28（四）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43100" y="1678914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67891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辛格韋德利國家公園、藍色瀑布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2050" y="167891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間歇泉、黃金瀑布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83700" y="1678914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252928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8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1/29（五）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43100" y="2252928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252928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塞里雅蘭瀑布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2050" y="2252928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斯科加爾瀑布 → 教堂鎮住宿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83700" y="2252928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2826941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9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1/30（六）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43100" y="2826941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82694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Eldhraun 熔岩苔原、羽毛峽谷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2050" y="282694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斷橋紀念碑、Fjallsárlón 小冰河湖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83700" y="2826941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3400954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10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1/31（日）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43100" y="3400954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340095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冰川健行＋藍冰洞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42050" y="3400954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傑古沙龍冰河湖、鑽石沙灘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83700" y="3400954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3974968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11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2/1（一）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43100" y="3974968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974968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維克午餐＋熔岩秀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42050" y="3974968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Dyrhólaey 迪霍拉里 → 海拉住宿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83700" y="3974968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E3EEF7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晚餐＋等待極光＋休息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4548981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12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2/2（二）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943100" y="4548981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454898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首都散策、哈爾格林姆教堂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42050" y="4548981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藍湖溫泉 → 加滿油還車 → 機場飯店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83700" y="4548981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FBE9E2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晚餐＋收拾行李＋休息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5122995"/>
            <a:ext cx="1079500" cy="523214"/>
          </a:xfrm>
          <a:prstGeom prst="roundRect">
            <a:avLst>
              <a:gd name="adj" fmla="val 9709"/>
            </a:avLst>
          </a:prstGeom>
          <a:solidFill>
            <a:srgbClr val="12263A"/>
          </a:solidFill>
          <a:ln/>
        </p:spPr>
        <p:txBody>
          <a:bodyPr wrap="square" lIns="74021" tIns="35921" rIns="23221" bIns="359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13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2/3（三）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943100" y="5122995"/>
            <a:ext cx="1206500" cy="523214"/>
          </a:xfrm>
          <a:prstGeom prst="roundRect">
            <a:avLst>
              <a:gd name="adj" fmla="val 9709"/>
            </a:avLst>
          </a:prstGeom>
          <a:solidFill>
            <a:srgbClr val="E8E4DA"/>
          </a:solidFill>
          <a:ln/>
        </p:spPr>
        <p:txBody>
          <a:bodyPr wrap="square" lIns="74021" tIns="48621" rIns="23221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休息＋早餐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5122995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07:30 KEF 起飛 → 赫爾辛基（AY816）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42050" y="5122995"/>
            <a:ext cx="2990850" cy="523214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</p:spPr>
        <p:txBody>
          <a:bodyPr wrap="square" lIns="74021" tIns="48621" rIns="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轉機 4h35 → HEL → ICN（AY041）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83700" y="5122995"/>
            <a:ext cx="2095500" cy="523214"/>
          </a:xfrm>
          <a:prstGeom prst="roundRect">
            <a:avLst>
              <a:gd name="adj" fmla="val 9709"/>
            </a:avLst>
          </a:prstGeom>
          <a:solidFill>
            <a:srgbClr val="FBE9E2"/>
          </a:solidFill>
          <a:ln/>
        </p:spPr>
        <p:txBody>
          <a:bodyPr wrap="square" lIns="74021" tIns="48621" rIns="16490" bIns="48621" rtlCol="0" anchor="ctr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2/4 12:25 抵達仁川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總覽 2/2　粉色底為例外安排（飛行日、機場飯店）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1・1/22（週五）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機場 → Costco 採購 → 首都住宿　｜　車程 1 hr · 50 km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154682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航班：1/21 23:00 ICN 出發，赫爾辛基轉機，1/22 15:55 抵達 KEF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1955735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6" name="Image 0" descr="Day 1 路線圖">    </p:cNvPr>
          <p:cNvPicPr>
            <a:picLocks noChangeAspect="1"/>
          </p:cNvPicPr>
          <p:nvPr/>
        </p:nvPicPr>
        <p:blipFill>
          <a:blip r:embed="rId1"/>
          <a:srcRect l="0" r="0" t="-196" b="-196"/>
          <a:stretch/>
        </p:blipFill>
        <p:spPr>
          <a:xfrm>
            <a:off x="812800" y="1955735"/>
            <a:ext cx="4572000" cy="2438400"/>
          </a:xfrm>
          <a:prstGeom prst="roundRect">
            <a:avLst>
              <a:gd name="adj" fmla="val 3125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12800" y="4546535"/>
            <a:ext cx="4572000" cy="1295466"/>
          </a:xfrm>
          <a:prstGeom prst="roundRect">
            <a:avLst>
              <a:gd name="adj" fmla="val 7843"/>
            </a:avLst>
          </a:prstGeom>
          <a:solidFill>
            <a:srgbClr val="E3EEF7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4698935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4988455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Downtown Reykjavík Apartments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16000" y="5313561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Rauðarárstígur 31・4 房 2 衛・專屬免費停車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37200" y="1955735"/>
            <a:ext cx="5842000" cy="1866900"/>
          </a:xfrm>
          <a:prstGeom prst="roundRect">
            <a:avLst>
              <a:gd name="adj" fmla="val 5442"/>
            </a:avLst>
          </a:prstGeom>
          <a:solidFill>
            <a:srgbClr val="FBE9E2"/>
          </a:solidFill>
          <a:ln/>
        </p:spPr>
      </p:sp>
      <p:sp>
        <p:nvSpPr>
          <p:cNvPr id="12" name="Text 9"/>
          <p:cNvSpPr/>
          <p:nvPr/>
        </p:nvSpPr>
        <p:spPr>
          <a:xfrm>
            <a:off x="5740400" y="2108135"/>
            <a:ext cx="5598668" cy="219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308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308" dirty="0"/>
          </a:p>
        </p:txBody>
      </p:sp>
      <p:sp>
        <p:nvSpPr>
          <p:cNvPr id="13" name="Text 10"/>
          <p:cNvSpPr/>
          <p:nvPr/>
        </p:nvSpPr>
        <p:spPr>
          <a:xfrm>
            <a:off x="5799201" y="2378142"/>
            <a:ext cx="5532247" cy="1317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5199" indent="-195199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15:55 抵達 KEF，出關後到 Lotus Car Rental 取車，調整座椅與後視鏡</a:t>
            </a:r>
            <a:endParaRPr lang="en-US" sz="1450" dirty="0"/>
          </a:p>
          <a:p>
            <a:pPr algn="l" marL="195199" indent="-195199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冰島全天開大燈</a:t>
            </a:r>
            <a:endParaRPr lang="en-US" sz="1450" dirty="0"/>
          </a:p>
          <a:p>
            <a:pPr algn="l" marL="195199" indent="-195199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市區停車用 Parka／EasyPark，21:00–09:00 免費</a:t>
            </a:r>
            <a:endParaRPr lang="en-US" sz="1450" dirty="0"/>
          </a:p>
          <a:p>
            <a:pPr algn="l" marL="195199" indent="-195199">
              <a:lnSpc>
                <a:spcPts val="2030"/>
              </a:lnSpc>
              <a:buSzPct val="100000"/>
              <a:buChar char="•"/>
            </a:pPr>
            <a:r>
              <a:rPr lang="en-US" sz="145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夜間散步戴好帽子手套，留意黑冰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537200" y="3975035"/>
            <a:ext cx="5842000" cy="1866966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740400" y="41274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85358" y="4416955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Costco 採買前半段食材（羊排、牛肉、蛋、麵），營業至 21:00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首夜散步：Laugavegur → 哈爾格林姆教堂 → 彩虹街 → 哈帕音樂廳 → 太陽航行者（約 4 km）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1/13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2・1/23（週六）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首都散策 → 牧場 → Reykholt　｜　車程 3.0 hrs · 200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2 路線圖">    </p:cNvPr>
          <p:cNvPicPr>
            <a:picLocks noChangeAspect="1"/>
          </p:cNvPicPr>
          <p:nvPr/>
        </p:nvPicPr>
        <p:blipFill>
          <a:blip r:embed="rId1"/>
          <a:srcRect l="-273" r="-273" t="0" b="0"/>
          <a:stretch/>
        </p:blipFill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Grímsstaðir holiday home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48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Reykholt・5 房 2 衛・BBQ・免費停車（連住 2 晚）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中午前結束首都散策，下午提早北上避免摸黑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Borgarnes 買齊 2 晚食材（Reykholt 只有極小雜貨店）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Erpsstaðir 冬季常僅週末 13–17 點營業，先致電 +354 868 0357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28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28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48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哈爾格林姆教堂（鐘塔約 1,400–1,500 ISK）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哈帕音樂廳（免費）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珍珠樓 Perlan（聯票約 7,090 ISK）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Erpsstaðir 牧場手工冰淇淋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2/13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哈爾格林姆教堂鳥瞰，雪景中的雷克雅維克">    </p:cNvPr>
          <p:cNvPicPr>
            <a:picLocks noChangeAspect="1"/>
          </p:cNvPicPr>
          <p:nvPr/>
        </p:nvPicPr>
        <p:blipFill>
          <a:blip r:embed="rId1"/>
          <a:srcRect l="28669" r="28669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008394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2・1/23（六）　景點 1/4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哈爾格林姆教堂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195831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Hallgrímskirkja・雷克雅維克地標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621229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1945 年動工、1986 年完工，前後歷時 41 年。建築師 Guðjón Samúelsson 以冰島的玄武岩柱狀節理為靈感，遠看像火箭，也像管風琴。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54832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83533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搭電梯登上鐘塔，360° 俯瞰彩色鐵皮屋頂與海灣；堂內管風琴有 5,275 根音管；門前矗立探險家萊夫・埃里克松的雕像。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4957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782741"/>
            <a:ext cx="512775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大廳免費，登塔約 1,400–1,500 ISK；約 10:00–17:00，禮拜或音樂會暫停登塔；停留 45–60 分；週六 10:00–21:00 周邊計費（P1 約 630 ISK/小時，上限 3 小時），用咪表或 EasyPark 繳費。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44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2・1/23（六）　景點 2/4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哈帕音樂廳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6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Harpa Concert Hall・舊港邊的玻璃建築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79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2011 年啟用，由丹麥 Henning Larsen 事務所與藝術家 Olafur Eliasson 合作；外牆以數千片蜂巢狀玻璃磚拼成，在港邊映著海面波光。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68167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9686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玻璃隨天氣與日光變幻光影，室內拍照絕佳；頂層走廊遠眺海灣與 Esja 山；館內有設計選品店與咖啡廳。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0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公共區域免費；約 10:00–18:00（週三至六常到 20:00）；停留 30–60 分；地下停車場約 510 ISK/小時（前 15 分鐘免費），車牌自動辨識計費。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夜色與倒影中的哈帕音樂廳">    </p:cNvPr>
          <p:cNvPicPr>
            <a:picLocks noChangeAspect="1"/>
          </p:cNvPicPr>
          <p:nvPr/>
        </p:nvPicPr>
        <p:blipFill>
          <a:blip r:embed="rId1"/>
          <a:srcRect l="19136" r="19136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夜間點燈的珍珠樓圓頂">    </p:cNvPr>
          <p:cNvPicPr>
            <a:picLocks noChangeAspect="1"/>
          </p:cNvPicPr>
          <p:nvPr/>
        </p:nvPicPr>
        <p:blipFill>
          <a:blip r:embed="rId1"/>
          <a:srcRect l="26852" r="26852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141744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2・1/23（六）　景點 3/4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珍珠樓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09166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Perlan・丘頂的玻璃穹頂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754579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坐落在 Öskjuhlíð 丘陵頂，1991 年落成。前身是儲存地熱熱水的水塔，加上玻璃穹頂後，改造成展覽與景觀台。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41497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7019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樓 360° 戶外景觀台，望見整座城市與半島火山地形；百公尺真冰洞用逾 350 噸冰川冰打造，可當冰川預習；另有 8K 極光秀。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6290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樓大廳免費，進展區需購票，聯票線上約 7,090 ISK；09:00–21:00；停留 1.5–2.5 小時，只看景觀台約 45 分；停車場一般免費，現場若見收費告示再依指示繳費。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8444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2・1/23（六）　景點 4/4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7843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Erpsstaðir 牧場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35836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Erpsstaðir Creamery・牧場乳製品與冰淇淋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7342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3021279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家族經營的酪農場與乳製品工坊，位在 Búðardalur 附近的 60 號公路旁，以自產自製的乳製品聞名。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68167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9686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農場現做的手工冰淇淋、Skyr 巧克力糖與自製起司；可看牛舍、乳牛與擠乳機，常有山羊、兔子與牧羊犬陪你逛。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0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冬季常只在週末 13:00–17:00 開放；出發前先電話確認 +354 868 0357。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Erpsstaðir 牧場入口的牛奶桶與木椅">    </p:cNvPr>
          <p:cNvPicPr>
            <a:picLocks noChangeAspect="1"/>
          </p:cNvPicPr>
          <p:nvPr/>
        </p:nvPicPr>
        <p:blipFill>
          <a:blip r:embed="rId1"/>
          <a:srcRect l="19136" r="19136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3・1/24（週日）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Reykholt ↔ 銀圈（當天往返）　｜　車程 1.5 hrs · 80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3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490" y="1686520"/>
            <a:ext cx="4448620" cy="2438400"/>
          </a:xfrm>
          <a:custGeom>
            <a:avLst/>
            <a:gdLst/>
            <a:ahLst/>
            <a:cxnLst/>
            <a:rect l="l" t="t" r="r" b="b"/>
            <a:pathLst>
              <a:path w="4448620" h="2438400">
                <a:moveTo>
                  <a:pt x="0" y="1394"/>
                </a:moveTo>
                <a:arcTo wR="76200" hR="76200" stAng="15541356" swAng="658644"/>
                <a:lnTo>
                  <a:pt x="4434110" y="0"/>
                </a:lnTo>
                <a:arcTo wR="76200" hR="76200" stAng="16200000" swAng="658644"/>
                <a:lnTo>
                  <a:pt x="4448620" y="2437006"/>
                </a:lnTo>
                <a:arcTo wR="76200" hR="76200" stAng="4741356" swAng="658644"/>
                <a:lnTo>
                  <a:pt x="14510" y="2438400"/>
                </a:lnTo>
                <a:arcTo wR="76200" hR="76200" stAng="5400000" swAng="658644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Grímsstaðir holiday home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49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連住第 2 晚・戶外露台可看星空極光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維德格爾米爾洞須參加導覽，洞內約 2°C，帶帽子手套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Krauma 建議先線上預約；入池前先全身淋浴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德爾達圖赫菲水溫近 100°C，留在木棧道內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29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29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49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維德格爾米爾熔岩洞（導覽約 1.5 hr）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熔岩瀑布＋兒童瀑布（免費，約 1 hr）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Sturlureykir 冰島馬牧場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德爾達圖赫菲溫泉、Krauma 地熱浴場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3/13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4" name="Image 0" descr="維德格爾米爾洞穴內的冰柱與步道燈光">    </p:cNvPr>
          <p:cNvPicPr>
            <a:picLocks noChangeAspect="1"/>
          </p:cNvPicPr>
          <p:nvPr/>
        </p:nvPicPr>
        <p:blipFill>
          <a:blip r:embed="rId1"/>
          <a:srcRect l="18767" r="18767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6" name="Text 3"/>
          <p:cNvSpPr/>
          <p:nvPr/>
        </p:nvSpPr>
        <p:spPr>
          <a:xfrm>
            <a:off x="6604000" y="11417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3・1/24（日）　景點 1/4</a:t>
            </a:r>
            <a:endParaRPr lang="en-US" sz="1400" dirty="0"/>
          </a:p>
        </p:txBody>
      </p:sp>
      <p:sp>
        <p:nvSpPr>
          <p:cNvPr id="7" name="Text 4"/>
          <p:cNvSpPr/>
          <p:nvPr>
            <p:ph type="title"/>
          </p:nvPr>
        </p:nvSpPr>
        <p:spPr>
          <a:xfrm>
            <a:off x="66040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維德格爾米爾洞穴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604000" y="20916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Víðgelmir・冰島體積最大的熔岩管洞穴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2754579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約西元 900 年火山爆發形成，藏在 Hallmundarhraun 熔岩地下，全長約 1.58 公里，最高處 15.8 公尺。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41497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370198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熔岩牆面色彩斑斕，有熔岩鐘乳石與石筍；洞裡曾出土維京時代的骨頭與珠寶，現存冰島國家博物館；冬季還會長出冰柱與冰石筍。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6290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040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必須跟導覽進洞（Cave Explorer 約 1.5 小時）；成人約 7,500 ISK，7–15 歲約 4,000 ISK，7 歲以下免費；備安全帽與頭燈，洞內有木棧道，約 2°C，帶帽子手套。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083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3・1/24（日）　景點 2/4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熔岩瀑布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19583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Hraunfossar・旁邊還有兒童瀑布 Barnafoss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621229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朗格冰原（Langjökull）的融雪水滲入熔岩田，從約 900 公尺長的岩壁縫隙湧出，匯入 Hvítá 河。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28162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56863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成百上千道細流滑過黑色熔岩，匯成蒂芬妮藍的河面；沿步道往上游走約 5 分鐘是兒童瀑布，水流湍急，流傳著兩個孩子的悲傷傳說。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49573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782741"/>
            <a:ext cx="512775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景點免費；停車場旁觀景台步行 1 分鐘可達；有咖啡廳與付費洗手間（約 1,000 ISK）；停車場可能收費（來源不一），備好 Parka 或 EasyPark；停留 45–60 分；從 Borgarnes 走 50 號轉 518 號公路。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蒂芬妮藍河水與黑色熔岩岩壁上的熔岩瀑布">    </p:cNvPr>
          <p:cNvPicPr>
            <a:picLocks noChangeAspect="1"/>
          </p:cNvPicPr>
          <p:nvPr/>
        </p:nvPicPr>
        <p:blipFill>
          <a:blip r:embed="rId1"/>
          <a:srcRect l="19136" r="19136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馬廄裡的冰島馬與牧場人員">    </p:cNvPr>
          <p:cNvPicPr>
            <a:picLocks noChangeAspect="1"/>
          </p:cNvPicPr>
          <p:nvPr/>
        </p:nvPicPr>
        <p:blipFill>
          <a:blip r:embed="rId1"/>
          <a:srcRect l="19108" r="19108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1417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3・1/24（日）　景點 3/4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Sturlureykir 牧場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0916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Sturlureykir Visiting Horse Farm・冰島馬牧場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754579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家族世代經營的傳統馬場，位在 518 號公路旁，離 Deildartunguhver 與 Krauma 約 5 分鐘車程。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41497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70198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可進馬廄梳理、撫摸、餵食冰島馬，聽牠們的血統與五種步態（含 Tölt）；還能嚐地熱蒸氣慢烤 24 小時的黑麥麵包，搭奶油現吃。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6290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農場參觀加麵包品嚐約 45–60 分，成人約 2,500–3,000 ISK；騎馬約 11,000–12,000 ISK 起，需預約；冬季名額少，出發前先確認或 Email 預約。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1732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3・1/24（日）　景點 4/4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39323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Krauma 地熱浴場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1967247"/>
            <a:ext cx="512775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Krauma Geothermal Baths・緊鄰 Deildartunguhver 的精品浴場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59205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879068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引入歐洲水量最大的 Deildartunguhver 地熱泉，約 97–100°C 的沸水，混入曾是冰川的 Okjökull 冷泉水，調成適中水溫。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5394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82647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個溫度各異的熱水池與 1 個 5–8°C 冷水池，另有兩間蒸氣室、紅外線桑拿，以及有真火壁爐的放鬆室；池水靠快速循環保持乾淨。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753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5040579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 11:00–21:00；成人約 6,500–7,500 ISK，建議先在 Klook 或 GetYourGuide 訂票；入池前先全身淋浴；可租毛巾、泳裝與浴袍。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雪地中的 Krauma 地熱浴池與蒸氣">    </p:cNvPr>
          <p:cNvPicPr>
            <a:picLocks noChangeAspect="1"/>
          </p:cNvPicPr>
          <p:nvPr/>
        </p:nvPicPr>
        <p:blipFill>
          <a:blip r:embed="rId1"/>
          <a:srcRect l="23997" r="23997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4・1/25（週一）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Reykholt → 斯奈山南岸 → 格倫達菲厄澤　｜　車程 3 hrs · 180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4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236" y="1686520"/>
            <a:ext cx="4505127" cy="2438400"/>
          </a:xfrm>
          <a:custGeom>
            <a:avLst/>
            <a:gdLst/>
            <a:ahLst/>
            <a:cxnLst/>
            <a:rect l="l" t="t" r="r" b="b"/>
            <a:pathLst>
              <a:path w="4505127" h="2438400">
                <a:moveTo>
                  <a:pt x="0" y="13131"/>
                </a:moveTo>
                <a:arcTo wR="76200" hR="76200" stAng="14151667" swAng="2048333"/>
                <a:lnTo>
                  <a:pt x="4462364" y="0"/>
                </a:lnTo>
                <a:arcTo wR="76200" hR="76200" stAng="16200000" swAng="2048333"/>
                <a:lnTo>
                  <a:pt x="4505127" y="2425269"/>
                </a:lnTo>
                <a:arcTo wR="76200" hR="76200" stAng="3351667" swAng="2048333"/>
                <a:lnTo>
                  <a:pt x="42764" y="2438400"/>
                </a:lnTo>
                <a:arcTo wR="76200" hR="76200" stAng="5400000" swAng="2048333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Two bathrooms Free parking Beds for 9 pers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49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Grundargata 43・3 房 2 衛・窗景正對草帽山・2 洗 2 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退房後出發，需補生鮮可繞 Borgarnes Bónus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終點小鎮只有小超市 Kjörbúðin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海豹沙灘退潮較易看到，停車約 1,000 ISK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出發前查 Safetravel 路況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29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29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49"/>
            <a:ext cx="554609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Ytri Tunga 海豹沙灘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Búðir 黑教堂（教堂內無暖氣、無洗手間）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4/13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趴在海藻礁石上的港海豹，背景是海灣與遠山">    </p:cNvPr>
          <p:cNvPicPr>
            <a:picLocks noChangeAspect="1"/>
          </p:cNvPicPr>
          <p:nvPr/>
        </p:nvPicPr>
        <p:blipFill>
          <a:blip r:embed="rId1"/>
          <a:srcRect l="19097" r="19097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0083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4・1/25（一）　景點 1/2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海豹沙灘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19583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Ytri Tunga・斯奈山半島南岸的海豹棲地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621229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Ytri Tunga 是斯奈山半島南岸的農場，門前的礁石與海藻灘是港海豹的休息地，退潮時會成群爬上岸曬太陽，是冰島少數能近看野生海豹的地點。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548329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835338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海豹趴在黑色熔岩礁與海藻上，有的翻身側躺、有的抬頭盯著人看；背景是藍色海灣與遠山，帶長焦鏡頭拍最漂亮。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49573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782741"/>
            <a:ext cx="512775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停車約 650–1,000 ISK（checkit.is 或現場機台，依告示）；退潮較易看到，數量隨季節與潮汐而變，冬季不保證遇到；停留 30–45 分；請保持距離、輕聲，別靠近或餵食；礁石濕滑，穿防滑鞋。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750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4・1/25（一）　景點 2/2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6510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黑教堂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2250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Búðakirkja・斯奈山半島的黑色木造教堂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6009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88793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最早的教堂建於 1703 年，現存的木造教堂於 1848 年落成；外牆塗上黑色焦油防潮，如今是斯奈山半島最上鏡的教堂之一。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5483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83533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黑色木牆配白色窗框與小門，襯著白雪與熔岩石牆；旁邊有小墓園，周圍是 Búðahraun 熔岩田，天氣好時遠方可見斯奈山冰川。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76243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504944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免費參觀；教堂內無暖氣、無洗手間；停留 20–30 分；冬季風大，開關車門要抓緊，拍照記得保暖。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雪地與熔岩石牆旁的黑色木造教堂 Búðakirkja">    </p:cNvPr>
          <p:cNvPicPr>
            <a:picLocks noChangeAspect="1"/>
          </p:cNvPicPr>
          <p:nvPr/>
        </p:nvPicPr>
        <p:blipFill>
          <a:blip r:embed="rId1"/>
          <a:srcRect l="19160" r="19160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5・1/26（週二）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格倫達菲厄澤 ↔ 斯奈山半島巡禮　｜　車程 2.0 hrs · 125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5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022" y="1686520"/>
            <a:ext cx="4515556" cy="2438400"/>
          </a:xfrm>
          <a:custGeom>
            <a:avLst/>
            <a:gdLst/>
            <a:ahLst/>
            <a:cxnLst/>
            <a:rect l="l" t="t" r="r" b="b"/>
            <a:pathLst>
              <a:path w="4515556" h="2438400">
                <a:moveTo>
                  <a:pt x="0" y="17001"/>
                </a:moveTo>
                <a:arcTo wR="76200" hR="76200" stAng="13858632" swAng="2341368"/>
                <a:lnTo>
                  <a:pt x="4467578" y="0"/>
                </a:lnTo>
                <a:arcTo wR="76200" hR="76200" stAng="16200000" swAng="2341368"/>
                <a:lnTo>
                  <a:pt x="4515556" y="2421399"/>
                </a:lnTo>
                <a:arcTo wR="76200" hR="76200" stAng="3058632" swAng="2341368"/>
                <a:lnTo>
                  <a:pt x="47978" y="2438400"/>
                </a:lnTo>
                <a:arcTo wR="76200" hR="76200" stAng="5400000" swAng="2341368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同上（連住第 2 晚）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旅程中段，利用洗烘衣機洗衣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草帽山 9/1–6/15 禁止攀登，只走山底步道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沿海停車時車頭迎風，開車門雙手抓穩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瀑布旁停車約 1,000 ISK，步道結冰要穿冰爪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1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391" dirty="0"/>
          </a:p>
        </p:txBody>
      </p:sp>
      <p:sp>
        <p:nvSpPr>
          <p:cNvPr id="15" name="Text 12"/>
          <p:cNvSpPr/>
          <p:nvPr/>
        </p:nvSpPr>
        <p:spPr>
          <a:xfrm>
            <a:off x="5785472" y="4280433"/>
            <a:ext cx="5545976" cy="1434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教會山（草帽山）與 Kirkjufellsfoss</a:t>
            </a:r>
            <a:endParaRPr lang="en-US" sz="1585" dirty="0"/>
          </a:p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紅頂 Ingjaldshóll 教堂</a:t>
            </a:r>
            <a:endParaRPr lang="en-US" sz="1585" dirty="0"/>
          </a:p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Svöðufoss 玄武岩瀑布</a:t>
            </a:r>
            <a:endParaRPr lang="en-US" sz="1585" dirty="0"/>
          </a:p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Arnarstapi 巨人石像、海蝕洞</a:t>
            </a:r>
            <a:endParaRPr lang="en-US" sz="1585" dirty="0"/>
          </a:p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Lóndrangar 海蝕柱</a:t>
            </a:r>
            <a:endParaRPr lang="en-US" sz="1585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5/13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粉紫色天空下的教堂山，山前是結冰的藍色小瀑布與雪地">    </p:cNvPr>
          <p:cNvPicPr>
            <a:picLocks noChangeAspect="1"/>
          </p:cNvPicPr>
          <p:nvPr/>
        </p:nvPicPr>
        <p:blipFill>
          <a:blip r:embed="rId1"/>
          <a:srcRect l="18752" r="18752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8750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5・1/26（週二）　景點 1/5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2509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教堂山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18249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Kirkjufell・格倫達菲厄澤旁的箭頭形山峰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2008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4878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Kirkjufell 意為「教會山」，海拔約 463 公尺，孤立在格倫達菲厄澤海岸邊；尖錐山形像草帽也像箭頭，是冰島最常被拍的山，也是《權力遊戲》中的箭頭山。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4149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70198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山前的 Kirkjufellsfoss 是幾段小瀑布，冬季半結冰、水色湛藍；日出日落時天空染成粉紫，山、瀑布、雪地一框入鏡，是經典構圖。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6290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916091"/>
            <a:ext cx="512775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草帽山 9/1–6/15 禁止攀登，只走山底步道；瀑布旁停車約 1,000 ISK（EasyPark，有監視器），山下 Grundarfjörður 側小停車場免費；步道結冰要穿冰爪；停留 30–45 分；風大，拍照記得保暖。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5・1/26（週二）　景點 2/5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紅色教堂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Ingjaldshóll・斯奈山半島西側的紅頂白牆教堂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位於 Hellissandur 附近的 Ingjaldshóll 教堂，現存建築落成於 1903 年；這一帶在冰島史書中很有名，傳說哥倫布 1477 年曾到訪此地。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96868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白牆配鮮紅屋頂，孤零零立在雪原上，遠方是斯奈山半島的雪山；從路的盡頭望向教堂，顏色對比最強，天氣陰沉時紅色更突出。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8957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518279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以外觀拍照為主，冬季內部多半不開放；停留 15–20 分；路面積雪時放慢車速，停車別擋住進出的路。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雪地中的紅頂白牆小教堂，前方道路通向教堂，遠處是雪山">    </p:cNvPr>
          <p:cNvPicPr>
            <a:picLocks noChangeAspect="1"/>
          </p:cNvPicPr>
          <p:nvPr/>
        </p:nvPicPr>
        <p:blipFill>
          <a:blip r:embed="rId1"/>
          <a:srcRect l="0" r="0" t="9500" b="950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雪山中的玄武岩瀑布 Svöðufoss，前方有彎曲的木棧道">    </p:cNvPr>
          <p:cNvPicPr>
            <a:picLocks noChangeAspect="1"/>
          </p:cNvPicPr>
          <p:nvPr/>
        </p:nvPicPr>
        <p:blipFill>
          <a:blip r:embed="rId1"/>
          <a:srcRect l="0" r="0" t="9500" b="950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2750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5・1/26（週二）　景點 3/5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6510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玄武岩瀑布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2250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Svöðufoss・Ólafsvík 附近的柱狀玄武岩瀑布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6009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88793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Svöðufoss 位在 Ólafsvík 附近的山谷中，水從一整面柱狀節理的玄武岩壁上落下，落差約 10 公尺；岩漿冷卻時收縮裂成多角形石柱，形成這面岩壁。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8150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4102038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黑色玄武岩柱襯著白雪，水流從岩壁中央落下，冬季兩側常掛著冰；前方彎曲的木棧道可以拍出層次，遠看比近看更完整。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76243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04944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停車場免費；步道約 5 分鐘，結冰濕滑要穿冰爪；停留 20–30 分；水氣在低溫下會結冰，別站太靠近瀑布底部。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5・1/26（週二）　景點 4/5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巨人石像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Arnarstapi・守護斯奈山半島的石砌巨人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石像紀念 Bárður Snæfellsás，傳說中半人半巨人的半島守護者，故事記在冰島古代傳說《Bárðar saga》；石像由雕刻家 Ragnar Kjartansson 以石塊堆砌而成，高約 9 公尺。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968688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粗石堆成的身形帶著青苔斑點，背景是雪山，尺度對比很有存在感；繞到側面可看出石塊如何層層堆疊。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0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免費參觀，停車場就在 Arnarstapi 小港旁；停留 20–30 分；順著海岸步道可走到海蝕拱門 Gatklettur；沿海風大，走步道要抓穩。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以石塊堆砌的巨人石像 Bárður，背後是白雪覆蓋的山">    </p:cNvPr>
          <p:cNvPicPr>
            <a:picLocks noChangeAspect="1"/>
          </p:cNvPicPr>
          <p:nvPr/>
        </p:nvPicPr>
        <p:blipFill>
          <a:blip r:embed="rId1"/>
          <a:srcRect l="19248" r="19248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海岸邊兩座黑色玄武岩海蝕柱 Lóndrangar，遠處有白色燈塔">    </p:cNvPr>
          <p:cNvPicPr>
            <a:picLocks noChangeAspect="1"/>
          </p:cNvPicPr>
          <p:nvPr/>
        </p:nvPicPr>
        <p:blipFill>
          <a:blip r:embed="rId1"/>
          <a:srcRect l="23942" r="23942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1417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5・1/26（週二）　景點 5/5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海蝕柱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0916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Lóndrangar・斯奈山半島南岸的玄武岩岩頸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7545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Lóndrangar 是古火山噴發後留下的岩漿通道，周圍較軟的岩層被海浪侵蝕掉後，硬岩頸獨自留在海岸；兩座岩柱高約 75 與 61 公尺，較高的一座近乎無法攀登。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96868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兩座黑色岩柱立在海岸，苔蘚覆蓋的熔岩原一路延伸到海邊；遠方白色的 Malarrif 燈塔可一起入鏡，浪大時前景會捲起白色浪花。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8957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18279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 Malarrif 附近的觀景步道遠望即可，不要靠近崖邊；停留 20–30 分；海風強勁，開關車門雙手抓穩；岩柱禁止攀爬。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6・1/27（週三）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格倫達菲厄澤 → Costco 補給 → Selfoss　｜　車程 3.5 hrs · 250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6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736" y="1686520"/>
            <a:ext cx="4474128" cy="2438400"/>
          </a:xfrm>
          <a:custGeom>
            <a:avLst/>
            <a:gdLst/>
            <a:ahLst/>
            <a:cxnLst/>
            <a:rect l="l" t="t" r="r" b="b"/>
            <a:pathLst>
              <a:path w="4474128" h="2438400">
                <a:moveTo>
                  <a:pt x="0" y="5045"/>
                </a:moveTo>
                <a:arcTo wR="76200" hR="76200" stAng="14942098" swAng="1257902"/>
                <a:lnTo>
                  <a:pt x="4446864" y="0"/>
                </a:lnTo>
                <a:arcTo wR="76200" hR="76200" stAng="16200000" swAng="1257902"/>
                <a:lnTo>
                  <a:pt x="4474128" y="2433355"/>
                </a:lnTo>
                <a:arcTo wR="76200" hR="76200" stAng="4142098" swAng="1257902"/>
                <a:lnTo>
                  <a:pt x="27264" y="2438400"/>
                </a:lnTo>
                <a:arcTo wR="76200" hR="76200" stAng="5400000" swAng="1257902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Cozy Cabin with Hot Tub &amp; Sauna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36880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Selfoss／Veiðilundur 湖景・2024 新建・私人 Hot tub 與桑拿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長途移動日，早點出發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Costco 採買 5–6 天食材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酒類只能在 Vínbúðin 買，常 18:00 前打烊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56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Borgarnes 烘焙肉桂捲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Costco Iceland 大採購（營業 10:00–21:00）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入住後別墅 Hot tub 泡湯、桑拿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6/13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Geirabakarí 烘焙坊內部，落地窗外是雪山與海灣，右側是麵包展示櫃">    </p:cNvPr>
          <p:cNvPicPr>
            <a:picLocks noChangeAspect="1"/>
          </p:cNvPicPr>
          <p:nvPr/>
        </p:nvPicPr>
        <p:blipFill>
          <a:blip r:embed="rId1"/>
          <a:srcRect l="0" r="0" t="6800" b="680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0083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6・1/27（週三）　景點 1/1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Geirabakarí 烘焙坊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19583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Geirabakarí Kaffihús・Borgarnes 的電影取景咖啡館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621235"/>
            <a:ext cx="512775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《白日夢冒險王》（2013）的拍攝地：華特抵達冰島後，一邊吃點心一邊與客服主管陶德通電話的「Papa John's 披薩店」，就是劇組把這家烘焙坊改裝而成。店內至今留有電影照片與拍攝花絮。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8150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410203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招牌肉桂捲（Kanilsnúðar）紮實濕潤、肉桂香濃，淋巧克力醬或糖霜，搭熱黑咖啡最對味；大片落地窗正對博爾加峽灣與對岸雪山。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502913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31614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 1 號公路旁，有免費停車場與乾淨洗手間，是長途開車的好中繼站；約 07:00 開始營業；停留 30–45 分。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7・1/28（週四）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Selfoss ↔ 黃金圈精華　｜　車程 2.5 hrs · 190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7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67" y="1686520"/>
            <a:ext cx="4479265" cy="2438400"/>
          </a:xfrm>
          <a:custGeom>
            <a:avLst/>
            <a:gdLst/>
            <a:ahLst/>
            <a:cxnLst/>
            <a:rect l="l" t="t" r="r" b="b"/>
            <a:pathLst>
              <a:path w="4479265" h="2438400">
                <a:moveTo>
                  <a:pt x="0" y="6083"/>
                </a:moveTo>
                <a:arcTo wR="76200" hR="76200" stAng="14817113" swAng="1382887"/>
                <a:lnTo>
                  <a:pt x="4449433" y="0"/>
                </a:lnTo>
                <a:arcTo wR="76200" hR="76200" stAng="16200000" swAng="1382887"/>
                <a:lnTo>
                  <a:pt x="4479265" y="2432317"/>
                </a:lnTo>
                <a:arcTo wR="76200" hR="76200" stAng="4017113" swAng="1382887"/>
                <a:lnTo>
                  <a:pt x="29833" y="2438400"/>
                </a:lnTo>
                <a:arcTo wR="76200" hR="76200" stAng="5400000" swAng="1382887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同上（連住第 2 晚）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晚上可泡 Hot tub、等極光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黃金圈當天往返，步道結冰請備冰爪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Gullfoss、Geysir 遊客中心可買伴手禮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晚餐食材回程在 Selfoss 市區買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56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辛格韋德利國家公園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藍色瀑布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間歇泉（Geysir）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黃金瀑布（Gullfoss）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7/13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辛格韋德利國家公園的 Almannagjá 隘口，積雪步道穿過兩側玄武岩峭壁">    </p:cNvPr>
          <p:cNvPicPr>
            <a:picLocks noChangeAspect="1"/>
          </p:cNvPicPr>
          <p:nvPr/>
        </p:nvPicPr>
        <p:blipFill>
          <a:blip r:embed="rId1"/>
          <a:srcRect l="15278" r="15278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0083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7・1/28（週四）　景點 1/4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辛格韋德利國家公園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19583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Þingvellir National Park・板塊裂縫與議會舊址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62123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公元 930 年，冰島人在此成立最早的議會之一 Alþingi，2004 年列為世界文化遺產；公園位於歐亞與北美板塊交界，兩板塊每年約分離 2 公分。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5483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835338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走進 Almannagjá 隘口，行走在兩大板塊之間；法律石（Lögberg）是古時宣讀法律的地點；園內還有 Öxarárfoss 瀑布。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76243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04944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入園免費，P1、P2、P5 停車場收費（小客車約 1,000 ISK，付一次當天三處通用）；全年 24 小時開放；完整步道約 2–3 小時；步道結冰，備冰爪。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750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7・1/28（週四）　景點 2/4・備用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6510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藍色瀑布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2250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Brúarfoss・冰川融水染成的蒂芬妮藍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6009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88793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水源來自朗格冰川（Langjökull）融水，含冰川粉與礦物質而呈乳藍色；Brúar 意為橋，相傳 17 世紀此處的天然石拱橋倒塌。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5483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835338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無數細小水道匯聚成 U 形瀑布，墜入深邃裂縫，藍色水流與黑色火山岩對比強烈；河上有木製人行橋可拍照。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49573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78274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導航至 Brúarfoss Parking，步行約 5–10 分鐘；停車費約 750 ISK＋手續費 86 ISK（Parka，含 4 小時，超時每小時 2,000 ISK）；無廁所與垃圾桶，岩石濕滑，勿靠近河岸。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藍色瀑布 Brúarfoss，乳藍色水流穿過黑色火山岩與積雪的河道">    </p:cNvPr>
          <p:cNvPicPr>
            <a:picLocks noChangeAspect="1"/>
          </p:cNvPicPr>
          <p:nvPr/>
        </p:nvPicPr>
        <p:blipFill>
          <a:blip r:embed="rId1"/>
          <a:srcRect l="19121" r="19121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史托克間歇泉噴發的水柱，背景是黃昏天空與雪地">    </p:cNvPr>
          <p:cNvPicPr>
            <a:picLocks noChangeAspect="1"/>
          </p:cNvPicPr>
          <p:nvPr/>
        </p:nvPicPr>
        <p:blipFill>
          <a:blip r:embed="rId1"/>
          <a:srcRect l="0" r="0" t="9500" b="950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4084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7・1/28（週四）　景點 3/4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7843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史托克間歇泉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3583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Strokkur Geyser・Haukadalur 地熱區的高頻噴泉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7342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30212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冰島最活躍的間歇泉，約每 4–10 分鐘噴發一次；鄰近的蓋錫爾間歇泉（Geysir）已停止噴發，Strokkur 成為此區主角。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968688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水柱通常 15–20 公尺，最高紀錄約 40 公尺；地表水溫約 90–95°C，地下深處可達 130°C。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6290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91609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 小時開放、免費參觀，停車場收費約 1,000 ISK（Parka）；水溫極高，請留在圍欄內以免燙傷；遊客中心可買伴手禮。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4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7・1/28（週四）　景點 4/4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黃金瀑布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6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Gullfoss Waterfall・黃金圈的壓軸瀑布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源自朗格冰川的 Hvítá 河在此分兩層落下。20 世紀初曾有外資計劃建水力電廠，Sigríður Tómasdóttir 多次抗議，瀑布因而保留。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968688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兩層落差約 11 公尺與 21 公尺，總高約 32 公尺，落入深 70 公尺的峽谷；冬季半結冰，呈現藍色冰雕景觀。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08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 小時開放、免門票，停車費各來源不一（有列約 750 ISK），依現場告示繳費；上層觀景台近遊客中心，下層步道冬季常因結冰封閉；遊客中心有羊肉湯與紀念品店。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冬季半結冰的黃金瀑布與積雪覆蓋的峽谷">    </p:cNvPr>
          <p:cNvPicPr>
            <a:picLocks noChangeAspect="1"/>
          </p:cNvPicPr>
          <p:nvPr/>
        </p:nvPicPr>
        <p:blipFill>
          <a:blip r:embed="rId1"/>
          <a:srcRect l="20219" r="20219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8・1/29（週五）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Selfoss → 兩大瀑布 → 教堂鎮　｜　車程 2.5 hrs · 200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8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427" y="1686520"/>
            <a:ext cx="4494747" cy="2438400"/>
          </a:xfrm>
          <a:custGeom>
            <a:avLst/>
            <a:gdLst/>
            <a:ahLst/>
            <a:cxnLst/>
            <a:rect l="l" t="t" r="r" b="b"/>
            <a:pathLst>
              <a:path w="4494747" h="2438400">
                <a:moveTo>
                  <a:pt x="0" y="9908"/>
                </a:moveTo>
                <a:arcTo wR="76200" hR="76200" stAng="14427377" swAng="1772623"/>
                <a:lnTo>
                  <a:pt x="4457173" y="0"/>
                </a:lnTo>
                <a:arcTo wR="76200" hR="76200" stAng="16200000" swAng="1772623"/>
                <a:lnTo>
                  <a:pt x="4494747" y="2428492"/>
                </a:lnTo>
                <a:arcTo wR="76200" hR="76200" stAng="3627377" swAng="1772623"/>
                <a:lnTo>
                  <a:pt x="37573" y="2438400"/>
                </a:lnTo>
                <a:arcTo wR="76200" hR="76200" stAng="5400000" swAng="1772623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Holiday Houses by Stay in Iceland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教堂鎮以西山坡・簡易廚房、無烤箱，適合煮湯麵或火鍋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關鍵補給日：教堂鎮到冰河湖沒有大超市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出發前在 Selfoss（或途經 Vík Krónan）買足 2–3 天食材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瀑布水霧大，穿防水外套與冰爪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出發前查 Safetravel 路況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56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塞里雅蘭瀑布（冬季後方步道常封閉）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斯科加爾瀑布（527 階，上方有觀景台）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維克熔岩秀（頁面備選）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8/13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冬季結冰的塞里雅蘭瀑布，水簾從覆滿冰柱的懸崖直落">    </p:cNvPr>
          <p:cNvPicPr>
            <a:picLocks noChangeAspect="1"/>
          </p:cNvPicPr>
          <p:nvPr/>
        </p:nvPicPr>
        <p:blipFill>
          <a:blip r:embed="rId1"/>
          <a:srcRect l="19136" r="19136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008397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8・1/29（週五）　景點 1/2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塞里雅蘭瀑布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1958318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Seljalandsfoss・可繞到水簾後方的瀑布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62123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落差約 60 公尺，水源來自 Seljalandsá 河，上游連著 Eyjafjallajökull 冰川；崖壁底部向內凹陷，水流直落之後留出一條可繞行的後方步道。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5483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83535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繞到水簾後方，從內側看瀑布是最特別的視角；賈斯汀・比伯《I'll Show You》MV 就在這條後方步道取景；步行約 10 分鐘還有隱藏瀑布 Gljúfrabúi。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76245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04944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冬季後方步道常因結冰封閉，現場看告示；水霧大，穿防水外套與冰爪；停留 30–45 分；停車約 1,000 ISK（機台或 checkit.is 繳費）。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0841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8・1/29（週五）　景點 2/2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斯科加爾瀑布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195833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Skógafoss・南岸最寬闊的一道水簾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62123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寬約 25 公尺、落差約 60 公尺，水源 Skógá 河來自 Eyjafjallajökull 冰川；傳說維京移民 Þrasi 把一箱黃金藏進瀑布後方的洞裡。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5483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83535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沿 527 階登上側邊觀景台，俯瞰瀑布與南岸平原；晴天水霧常映出彩虹，《白日夢冒險王》與《雷神索爾 2：黑暗世界》都曾取景。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76245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504944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水霧大，穿防水外套；階梯與瀑布前方地面會結冰，備冰爪；停車約 1,000 ISK（Parka，2025/5 起收費）；停留 30–45 分；下午續往 Vík 補給再前往教堂鎮。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冬季結冰的斯科加爾瀑布，兩側岩壁覆滿冰雪">    </p:cNvPr>
          <p:cNvPicPr>
            <a:picLocks noChangeAspect="1"/>
          </p:cNvPicPr>
          <p:nvPr/>
        </p:nvPicPr>
        <p:blipFill>
          <a:blip r:embed="rId1"/>
          <a:srcRect l="19295" r="19295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9・1/30（週六）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教堂鎮 → 熔岩苔原 → 羽毛峽谷 → 斷橋 → 小冰河湖　｜　車程 2.5 hrs · 200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9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13" y="1686520"/>
            <a:ext cx="4489574" cy="2438400"/>
          </a:xfrm>
          <a:custGeom>
            <a:avLst/>
            <a:gdLst/>
            <a:ahLst/>
            <a:cxnLst/>
            <a:rect l="l" t="t" r="r" b="b"/>
            <a:pathLst>
              <a:path w="4489574" h="2438400">
                <a:moveTo>
                  <a:pt x="0" y="8507"/>
                </a:moveTo>
                <a:arcTo wR="76200" hR="76200" stAng="14560070" swAng="1639930"/>
                <a:lnTo>
                  <a:pt x="4454587" y="0"/>
                </a:lnTo>
                <a:arcTo wR="76200" hR="76200" stAng="16200000" swAng="1639930"/>
                <a:lnTo>
                  <a:pt x="4489574" y="2429893"/>
                </a:lnTo>
                <a:arcTo wR="76200" hR="76200" stAng="3760070" swAng="1639930"/>
                <a:lnTo>
                  <a:pt x="34987" y="2438400"/>
                </a:lnTo>
                <a:arcTo wR="76200" hR="76200" stAng="5400000" swAng="1639930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Potato Storage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Svínafell 1・近 Skaftafell 冰川集合點・連住 2 晚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羽毛峽谷步道冬季結冰，全員套冰爪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峽谷頂風大，戴防風帽與手套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苔原不要踩踏苔蘚，只走步道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斷橋沙原風大，開車門抓穩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56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Eldhraun 熔岩苔原（15–30 分）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羽毛峽谷（1–1.5 hr，停車約 1,000 ISK）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Skeiðará 斷橋紀念碑（10–15 分）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Fjallsárlón 小冰河湖（40–50 分）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9/13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覆雪的苔蘚熔岩原與遠方山脈">    </p:cNvPr>
          <p:cNvPicPr>
            <a:picLocks noChangeAspect="1"/>
          </p:cNvPicPr>
          <p:nvPr/>
        </p:nvPicPr>
        <p:blipFill>
          <a:blip r:embed="rId1"/>
          <a:srcRect l="19136" r="19136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1417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9・1/30（週六）　景點 1/4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Eldhraun 熔岩苔原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0916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Eldhraun・鋪滿苔蘚的南岸熔岩原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7545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1783–84 年 Laki 火山裂隙噴發，熔岩流淌出約 565 平方公里的巨大熔岩原，是史上最大規模的熔岩流之一；數百年來被厚厚的灰綠色苔蘚覆蓋。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96870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軟綿綿的苔蘚像地毯鋪滿黑色岩塊，冬季覆雪後呈現綠、黑、白交錯的畫面；1960 年代美國阿波羅太空人曾來此訓練，模擬月球地貌。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8958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18279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苔蘚生長極慢，踩過要幾十年才恢復，只走步道、不踏入苔原；停留 15–30 分；路肩停車處冬季常結冰，下車先確認地面。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9・1/30（週六）　景點 2/4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羽毛峽谷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Fjaðrárgljúfur・河水切出的蜿蜒峽谷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峽谷長約 2 公里、深約 100 公尺，由 Fjaðrá 河在冰河期結束後長年切蝕而成，柔和起伏的岩壁與彎曲河道是它最大的特色。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4149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70200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沿峽谷邊緣步道走到觀景台，俯瞰河道蜿蜒切進黑色岩壁；賈斯汀・比伯《I’ll Show You》MV 的懸崖邊俯瞰鏡頭就在這裡，讓峽谷在全球爆紅。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1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冬季步道結冰，全員套冰爪；峽谷頂風大，戴防風帽與手套；依現場告示只走步道與觀景台；停留 1–1.5 hr，停車約 1,000 ISK（Parka，有監視器）。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覆雪的羽毛峽谷，溪流蜿蜒穿過黑色岩壁">    </p:cNvPr>
          <p:cNvPicPr>
            <a:picLocks noChangeAspect="1"/>
          </p:cNvPicPr>
          <p:nvPr/>
        </p:nvPicPr>
        <p:blipFill>
          <a:blip r:embed="rId1"/>
          <a:srcRect l="19438" r="19438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雪原上被扭曲的 Skeiðará 橋鋼樑殘骸，背後是 Vatnajökull 山群">    </p:cNvPr>
          <p:cNvPicPr>
            <a:picLocks noChangeAspect="1"/>
          </p:cNvPicPr>
          <p:nvPr/>
        </p:nvPicPr>
        <p:blipFill>
          <a:blip r:embed="rId1"/>
          <a:srcRect l="15349" r="15349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27511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9・1/30（週六）　景點 3/4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6510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Skeiðará 斷橋紀念碑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22503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Skeiðará Bridge Monument・被冰川洪水扭斷的橋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6009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88793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Skeiðará 橋 1974 年啟用，是環島 1 號公路完工的最後一段；1996 年 Grímsvötn 火山噴發引發冰川洪水，大水沖毀橋身，殘骸保留下來成為紀念碑。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8150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4102050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扭曲變形的鋼樑橫在雪原上，旁邊有解說牌，背景是 Vatnajökull 冰帽與山群，一眼就能感受冰川洪水的威力。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76245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04944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路旁小停車場，停留 10–15 分；沙原風大，開車門要抓穩；冬季地面結冰，走近殘骸時放慢腳步。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9・1/30（週六）　景點 4/4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小冰河湖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Fjallsárlón・安靜的冰川潟湖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Fjallsárlón 位於 Öræfajökull 山腳，由 Vatnajökull 的出口冰川 Fjallsjökull 後退留下的水域形成，距 Jökulsárlón 約 10 公里，規模較小但冰川離得更近。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968700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冰舌直接落進湖裡，藍白色的裂隙冰牆就在眼前；遊客比大冰河湖少很多，可以安靜地看冰、拍照。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1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湖邊碎石步道冬季濕滑，備冰爪；不要靠近水邊，也不要爬上浮冰；西側停車場約 1,000 ISK（Parka），東側大停車場免費；停留 40–50 分。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冰舌直落湖面的 Fjallsjökull 冰川與遠處山脈">    </p:cNvPr>
          <p:cNvPicPr>
            <a:picLocks noChangeAspect="1"/>
          </p:cNvPicPr>
          <p:nvPr/>
        </p:nvPicPr>
        <p:blipFill>
          <a:blip r:embed="rId1"/>
          <a:srcRect l="21065" r="21065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10・1/31（週日）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冰河湖附近 ↔ 冰川健行＋冰河湖　｜　車程 1.5 hrs · 100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10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701284"/>
            <a:ext cx="4572000" cy="2408873"/>
          </a:xfrm>
          <a:custGeom>
            <a:avLst/>
            <a:gdLst/>
            <a:ahLst/>
            <a:cxnLst/>
            <a:rect l="l" t="t" r="r" b="b"/>
            <a:pathLst>
              <a:path w="4572000" h="2408873">
                <a:moveTo>
                  <a:pt x="0" y="61436"/>
                </a:moveTo>
                <a:arcTo wR="76200" hR="76200" stAng="10800000" swAng="3223869"/>
                <a:lnTo>
                  <a:pt x="4540878" y="0"/>
                </a:lnTo>
                <a:arcTo wR="76200" hR="76200" stAng="18376131" swAng="3223869"/>
                <a:lnTo>
                  <a:pt x="4572000" y="2347436"/>
                </a:lnTo>
                <a:arcTo wR="76200" hR="76200" stAng="0" swAng="3223869"/>
                <a:lnTo>
                  <a:pt x="31122" y="2408873"/>
                </a:lnTo>
                <a:arcTo wR="76200" hR="76200" stAng="7576131" swAng="3223869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同上（連住第 2 晚）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回房可立即洗熱水澡放鬆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體力活日，前一晚早睡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備好保暖衣物與換洗衣物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食材使用 1/29 備貨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56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冰川健行＋藍冰洞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傑古沙龍冰河湖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鑽石沙灘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10/13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冰洞內波浪紋的藍色冰壁與站在洞中的人">    </p:cNvPr>
          <p:cNvPicPr>
            <a:picLocks noChangeAspect="1"/>
          </p:cNvPicPr>
          <p:nvPr/>
        </p:nvPicPr>
        <p:blipFill>
          <a:blip r:embed="rId1"/>
          <a:srcRect l="16937" r="16937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00841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10・1/31（週日）　景點 1/3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38430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藍冰洞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195833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Crystal Ice Cave・冰川底下的藍色洞穴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33422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62123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冬季融水在冰川內部沖出隧道，水退後留下冰洞；冰層受壓緊實、氣泡少，光線穿透時吸收紅光，呈現深邃的藍色。冰洞每年位置與形狀都不同，約 11 月至 3 月才開放。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54833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83535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頭頂像凝固海浪的藍色冰壁是最大亮點；鄰近的 Svínafellsjökull 冰川是《星際效應》曼恩星球與《蝙蝠俠：開戰時刻》的取景地。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76245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504944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必須跟當地嚮導團，不可自行進洞；冰爪與安全帽通常由嚮導提供；洞況每天依天氣與水位決定，行前確認集合時間；前一晚早睡、備好保暖衣物與換洗衣物。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10・1/31（週日）　景點 2/3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傑古沙龍冰河湖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Jökulsárlón・浮滿冰山的冰河湖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Breiðamerkurjökull 冰舌後退，約 1935 年起形成這座潟湖，並隨冰川持續縮減而擴大，水深約 250 公尺，是冰島最深的湖。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4149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70200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藍白浮冰漂在湖面，部分冰塊順著短短的 Jökulsá 河漂進大西洋；冬季有機會看到海豹；《007》系列與《古墓奇兵》都曾在這裡取景。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1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冬季日照短，傍晚的光線最美但天黑得早；湖邊風大，保暖要做足；不要爬上浮冰；停車約 1,000 ISK（Parka，當日有效，與鑽石沙灘共用，付一次即可）；停留約 1–1.5 hr。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夕陽下的 Jökulsárlón，藍白浮冰漂在平靜湖面">    </p:cNvPr>
          <p:cNvPicPr>
            <a:picLocks noChangeAspect="1"/>
          </p:cNvPicPr>
          <p:nvPr/>
        </p:nvPicPr>
        <p:blipFill>
          <a:blip r:embed="rId1"/>
          <a:srcRect l="19136" r="19136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日落雲彩下，黑色沙灘散落著晶瑩的冰塊">    </p:cNvPr>
          <p:cNvPicPr>
            <a:picLocks noChangeAspect="1"/>
          </p:cNvPicPr>
          <p:nvPr/>
        </p:nvPicPr>
        <p:blipFill>
          <a:blip r:embed="rId1"/>
          <a:srcRect l="23948" r="23948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1417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10・1/31（週日）　景點 3/3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鑽石沙灘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0916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Diamond Beach・黑沙灘上的透明冰塊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754585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冰河湖的浮冰隨 Jökulsá 河流入大西洋，被海浪沖回黑色火山沙灘，一塊塊在沙上閃閃發亮，因此叫鑽石沙灘；位置就在冰河湖對面、1 號公路的另一側。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968700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冰塊的形狀與大小每天都不同；日出日落時透光呈橘紅與粉紫，是拍照的黃金時段；有些冰塊被海水磨成圓潤透明的球狀。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6291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大西洋的海浪會突然沖上沙灘，不要背對海、不要爬冰塊、不要太靠近水線；地面濕滑，備冰爪；停車費與冰河湖共用同一收費區（約 1,000 ISK，當日付一次即可）；停留 30–45 分。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11・2/1（週一）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冰河湖附近 → 維克熔岩秀 → 迪霍拉里 → 海拉　｜　車程 3.0 hrs · 240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11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632" y="1686520"/>
            <a:ext cx="4510335" cy="2438400"/>
          </a:xfrm>
          <a:custGeom>
            <a:avLst/>
            <a:gdLst/>
            <a:ahLst/>
            <a:cxnLst/>
            <a:rect l="l" t="t" r="r" b="b"/>
            <a:pathLst>
              <a:path w="4510335" h="2438400">
                <a:moveTo>
                  <a:pt x="0" y="14977"/>
                </a:moveTo>
                <a:arcTo wR="76200" hR="76200" stAng="14007635" swAng="2192365"/>
                <a:lnTo>
                  <a:pt x="4464968" y="0"/>
                </a:lnTo>
                <a:arcTo wR="76200" hR="76200" stAng="16200000" swAng="2192365"/>
                <a:lnTo>
                  <a:pt x="4510335" y="2423423"/>
                </a:lnTo>
                <a:arcTo wR="76200" hR="76200" stAng="3207635" swAng="2192365"/>
                <a:lnTo>
                  <a:pt x="45368" y="2438400"/>
                </a:lnTo>
                <a:arcTo wR="76200" hR="76200" stAng="5400000" swAng="2192365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Hella - Riverbank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Þrúðvangur・75 吋電視＋環繞音響・可聚在一起看電影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長途返回南岸，早點出發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Vík 的 Krónan＋Icewear 一次買齊伴手禮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Dyrhólaey 風速超過 15 m/s 就留在下層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崖頂開車門雙手抓穩，備冰爪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56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維克午餐＋室內熔岩秀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Dyrhólaey 迪霍拉里（45–60 分，免費）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俯瞰黑沙灘與海蝕拱門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11/13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Lava Show 展間內，熔岩從爐口流下，觀眾坐在前方觀看">    </p:cNvPr>
          <p:cNvPicPr>
            <a:picLocks noChangeAspect="1"/>
          </p:cNvPicPr>
          <p:nvPr/>
        </p:nvPicPr>
        <p:blipFill>
          <a:blip r:embed="rId1"/>
          <a:srcRect l="19192" r="19192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4084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11・2/1（週一）　景點 1/2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7843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維克熔岩秀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3583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Lava Show Vík・近距離看熔岩流動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7342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30212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2018 年在 Vík 開幕的室內展演，使用約 1,100°C 的真實熔岩，在展間裡重現火山噴發的過程，由解說員講解冰島火山與地質。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6816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968700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熔岩從爐口流入展間，近距離就能感受到熱浪與紅光；整場表演約 45 分鐘，冬天在室內看最舒服。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6291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916091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先到官網預約時段，冬季場次較少；安排在維克午餐前後，與 Krónan＋Icewear 補給同一區；入場前先確認集合時間。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417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11・2/1（週一）　景點 2/2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迪霍拉里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916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Dyrhólaey・可俯瞰黑沙灘的海蝕拱門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7545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名字意為「門洞之丘」，是高約 120 公尺的岬角；海水長年侵蝕出巨大的拱門，大到小船可以穿過。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4149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370200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崖頂可俯瞰 Reynisfjara 黑沙灘與遠方的玄武岩海蝕柱；《俠盜一號》《權力遊戲》第 7 季與《維京傳奇》都在這一帶的黑沙灘取景；夏季才有海鸚。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46291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風速超過 15 m/s 就留在下層；崖頂開車門雙手抓穩，備冰爪；上層道路冬季可能封閉，依現場告示；停車費說法不一（有 Parka 清單列約 750 ISK），依現場告示；停留 45–60 分。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4200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12" name="Image 0" descr="岬角上的黑色玄武岩海蝕拱門，海面是青綠色">    </p:cNvPr>
          <p:cNvPicPr>
            <a:picLocks noChangeAspect="1"/>
          </p:cNvPicPr>
          <p:nvPr/>
        </p:nvPicPr>
        <p:blipFill>
          <a:blip r:embed="rId1"/>
          <a:srcRect l="19121" r="19121" t="0" b="0"/>
          <a:stretch/>
        </p:blipFill>
        <p:spPr>
          <a:xfrm>
            <a:off x="5842000" y="0"/>
            <a:ext cx="6350000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42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10800000" scaled="0"/>
          </a:gradFill>
          <a:ln/>
        </p:spPr>
      </p:sp>
      <p:sp>
        <p:nvSpPr>
          <p:cNvPr id="14" name="Text 11"/>
          <p:cNvSpPr/>
          <p:nvPr/>
        </p:nvSpPr>
        <p:spPr>
          <a:xfrm>
            <a:off x="76581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12・2/2（週二）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海拉 → 首都散策 → 藍湖 → 機場飯店＋還車　｜　車程 2.5 hrs · 160 km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2438400"/>
          </a:xfrm>
          <a:prstGeom prst="roundRect">
            <a:avLst>
              <a:gd name="adj" fmla="val 3125"/>
            </a:avLst>
          </a:prstGeom>
          <a:solidFill>
            <a:srgbClr val="DFE7EE"/>
          </a:solidFill>
          <a:ln/>
        </p:spPr>
      </p:sp>
      <p:pic>
        <p:nvPicPr>
          <p:cNvPr id="5" name="Image 0" descr="Day 12 路線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236" y="1686520"/>
            <a:ext cx="4505127" cy="2438400"/>
          </a:xfrm>
          <a:custGeom>
            <a:avLst/>
            <a:gdLst/>
            <a:ahLst/>
            <a:cxnLst/>
            <a:rect l="l" t="t" r="r" b="b"/>
            <a:pathLst>
              <a:path w="4505127" h="2438400">
                <a:moveTo>
                  <a:pt x="0" y="13131"/>
                </a:moveTo>
                <a:arcTo wR="76200" hR="76200" stAng="14151667" swAng="2048333"/>
                <a:lnTo>
                  <a:pt x="4462364" y="0"/>
                </a:lnTo>
                <a:arcTo wR="76200" hR="76200" stAng="16200000" swAng="2048333"/>
                <a:lnTo>
                  <a:pt x="4505127" y="2425269"/>
                </a:lnTo>
                <a:arcTo wR="76200" hR="76200" stAng="3351667" swAng="2048333"/>
                <a:lnTo>
                  <a:pt x="42764" y="2438400"/>
                </a:lnTo>
                <a:arcTo wR="76200" hR="76200" stAng="5400000" swAng="2048333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812800" y="4277320"/>
            <a:ext cx="4572000" cy="1564680"/>
          </a:xfrm>
          <a:prstGeom prst="roundRect">
            <a:avLst>
              <a:gd name="adj" fmla="val 6493"/>
            </a:avLst>
          </a:prstGeom>
          <a:solidFill>
            <a:srgbClr val="E3EEF7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4297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47192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Aurora Hotel at KEF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50443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Blikavöllur 2・步行 2–5 分鐘到航廈・04:00 起供應早餐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11" name="Text 8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85358" y="2128441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藍湖須先在官網預約時段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入池前頭髮抹滿潤髮乳不沖洗，取下金屬飾品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還車前加滿油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酒類與伴手禮到機場免稅店買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景點／活動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85358" y="4282356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首都散策（補第 1 天未去的景點）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藍湖溫泉（停留約 2.5–3 hr）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加滿油、還車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12/13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08950" y="623828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開啟 Google Maps 路線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0000" cy="6858000"/>
          </a:xfrm>
          <a:prstGeom prst="rect">
            <a:avLst/>
          </a:prstGeom>
          <a:solidFill>
            <a:srgbClr val="CFDBE5"/>
          </a:solidFill>
          <a:ln/>
        </p:spPr>
      </p:sp>
      <p:pic>
        <p:nvPicPr>
          <p:cNvPr id="3" name="Image 0" descr="覆雪熔岩原上冒著熱氣的乳藍色藍湖與建築">    </p:cNvPr>
          <p:cNvPicPr>
            <a:picLocks noChangeAspect="1"/>
          </p:cNvPicPr>
          <p:nvPr/>
        </p:nvPicPr>
        <p:blipFill>
          <a:blip r:embed="rId1"/>
          <a:srcRect l="18631" r="18631" t="0" b="0"/>
          <a:stretch/>
        </p:blipFill>
        <p:spPr>
          <a:xfrm>
            <a:off x="0" y="0"/>
            <a:ext cx="6350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F4F1EA">
                  <a:alpha val="0"/>
                </a:srgbClr>
              </a:gs>
              <a:gs pos="100000">
                <a:srgbClr val="F4F1EA"/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604000" y="114176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12・2/2（週二）　景點 1/1</a:t>
            </a:r>
            <a:endParaRPr lang="en-US" sz="14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6604000" y="1517650"/>
            <a:ext cx="512775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藍湖溫泉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04000" y="209168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Blue Lagoon・熔岩原上的乳藍色地熱湖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4000" y="246757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4000" y="2754585"/>
            <a:ext cx="51277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1976 年 Svartsengi 地熱發電廠的排水在熔岩原上積成湖，富含矽、礦物質與藻類，水溫約 37–39°C，光線散射出乳藍色。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4000" y="3414985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看點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04000" y="3702000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冬季在雪地與蒸氣中泡湯最有氣氛；池內有矽泥面膜與水中吧台，內容依票種而定；藍湖面膜可現場買，也可在 KEF 免稅店買。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04000" y="4629100"/>
            <a:ext cx="512775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04000" y="4916091"/>
            <a:ext cx="512775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須先在官網預約時段；入池前頭髮抹滿潤髮乳不沖洗，取下金屬飾品；出水瞬間很冷，浴袍先放好；停留約 2.5–3 hr；離 KEF 約 20 分鐘車程。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31000" y="63398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13・2/3（週三）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飯店 → 機場 → 赫爾辛基 → 首爾　｜　車程 步行 2–5 分鐘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4572000" cy="4155480"/>
          </a:xfrm>
          <a:prstGeom prst="roundRect">
            <a:avLst>
              <a:gd name="adj" fmla="val 2445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住宿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128441"/>
            <a:ext cx="42905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Aurora Hotel at KEF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453556"/>
            <a:ext cx="429056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今晨退房，步行 2–5 分鐘到航廈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7200" y="1686520"/>
            <a:ext cx="5842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9" name="Text 7"/>
          <p:cNvSpPr/>
          <p:nvPr/>
        </p:nvSpPr>
        <p:spPr>
          <a:xfrm>
            <a:off x="5740400" y="1838920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出門提醒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85358" y="2128441"/>
            <a:ext cx="55460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07:30 起飛，飯店 04:00 起供應早餐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飯店步行 2–5 分鐘到航廈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車已於 2/2 加滿油還車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37200" y="3840435"/>
            <a:ext cx="5842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740400" y="3992835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航班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85358" y="4282356"/>
            <a:ext cx="554609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07:30 KEF 出發 → HEL（AY816，3 小時 30 分）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HEL 轉機等待 4 小時 35 分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HEL → ICN（AY041 Finnair，11 小時 50 分）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2/4 12:25 抵達首爾仁川 ICN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Day 13/13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準備事項①　證件與保險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出國資料與自駕證件｜櫃檯查驗嚴格，缺一不可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5410200" cy="4155480"/>
          </a:xfrm>
          <a:prstGeom prst="roundRect">
            <a:avLst>
              <a:gd name="adj" fmla="val 2445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515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自駕證件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5101336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護照：離開申根區當日起效期 6 個月以上，影本與電子檔分開存放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台灣汽車駕照正本（只有國際駕照無法取車）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國際駕照 IDP（需在有效期內）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主駕駛英文姓名實體信用卡，額度足夠過卡預授權押金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有第二駕駛：兩人的台灣駕照與 IDP 都要備齊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75400" y="1686520"/>
            <a:ext cx="5003800" cy="2001507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838920"/>
            <a:ext cx="4735322" cy="20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保險文件</a:t>
            </a:r>
            <a:endParaRPr lang="en-US" sz="1186" dirty="0"/>
          </a:p>
        </p:txBody>
      </p:sp>
      <p:sp>
        <p:nvSpPr>
          <p:cNvPr id="9" name="Text 7"/>
          <p:cNvSpPr/>
          <p:nvPr/>
        </p:nvSpPr>
        <p:spPr>
          <a:xfrm>
            <a:off x="6637134" y="2095178"/>
            <a:ext cx="4669168" cy="146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5466" indent="-195466">
              <a:lnSpc>
                <a:spcPts val="2079"/>
              </a:lnSpc>
              <a:buSzPct val="100000"/>
              <a:buChar char="•"/>
            </a:pPr>
            <a:r>
              <a:rPr lang="en-US" sz="14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申根醫療險英文證明：突發疾病、意外，至少 3 萬歐元，含緊急轉送</a:t>
            </a:r>
            <a:endParaRPr lang="en-US" sz="1485" dirty="0"/>
          </a:p>
          <a:p>
            <a:pPr algn="l" marL="195466" indent="-195466">
              <a:lnSpc>
                <a:spcPts val="2079"/>
              </a:lnSpc>
              <a:buSzPct val="100000"/>
              <a:buChar char="•"/>
            </a:pPr>
            <a:r>
              <a:rPr lang="en-US" sz="14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旅遊平安與不便險：留意暴風雪班機延誤、行程延誤、行李損毀</a:t>
            </a:r>
            <a:endParaRPr lang="en-US" sz="1485" dirty="0"/>
          </a:p>
          <a:p>
            <a:pPr algn="l" marL="195466" indent="-195466">
              <a:lnSpc>
                <a:spcPts val="2079"/>
              </a:lnSpc>
              <a:buSzPct val="100000"/>
              <a:buChar char="•"/>
            </a:pPr>
            <a:r>
              <a:rPr lang="en-US" sz="14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車險：第三方自負額險或租車公司全險，印英文保單</a:t>
            </a:r>
            <a:endParaRPr lang="en-US" sz="1485" dirty="0"/>
          </a:p>
        </p:txBody>
      </p:sp>
      <p:sp>
        <p:nvSpPr>
          <p:cNvPr id="10" name="Shape 8"/>
          <p:cNvSpPr/>
          <p:nvPr/>
        </p:nvSpPr>
        <p:spPr>
          <a:xfrm>
            <a:off x="6375400" y="3840435"/>
            <a:ext cx="50038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78600" y="3992835"/>
            <a:ext cx="4735322" cy="20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行程憑證與會員卡（紙本＋離線 PDF）</a:t>
            </a:r>
            <a:endParaRPr lang="en-US" sz="1186" dirty="0"/>
          </a:p>
        </p:txBody>
      </p:sp>
      <p:sp>
        <p:nvSpPr>
          <p:cNvPr id="12" name="Text 10"/>
          <p:cNvSpPr/>
          <p:nvPr/>
        </p:nvSpPr>
        <p:spPr>
          <a:xfrm>
            <a:off x="6624053" y="4249093"/>
            <a:ext cx="4682249" cy="1465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8547" indent="-208547">
              <a:lnSpc>
                <a:spcPts val="2149"/>
              </a:lnSpc>
              <a:buSzPct val="100000"/>
              <a:buChar char="•"/>
            </a:pPr>
            <a:r>
              <a:rPr lang="en-US" sz="153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機票行程單（含赫爾辛基／阿姆斯特丹轉機）、各住宿確認單（地址、Check-in、門禁或鑰匙盒密碼）</a:t>
            </a:r>
            <a:endParaRPr lang="en-US" sz="1535" dirty="0"/>
          </a:p>
          <a:p>
            <a:pPr algn="l" marL="208547" indent="-208547">
              <a:lnSpc>
                <a:spcPts val="2149"/>
              </a:lnSpc>
              <a:buSzPct val="100000"/>
              <a:buChar char="•"/>
            </a:pPr>
            <a:r>
              <a:rPr lang="en-US" sz="153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冰川健行、藍湖溫泉、維克熔岩秀預約單</a:t>
            </a:r>
            <a:endParaRPr lang="en-US" sz="1535" dirty="0"/>
          </a:p>
          <a:p>
            <a:pPr algn="l" marL="208547" indent="-208547">
              <a:lnSpc>
                <a:spcPts val="2149"/>
              </a:lnSpc>
              <a:buSzPct val="100000"/>
              <a:buChar char="•"/>
            </a:pPr>
            <a:r>
              <a:rPr lang="en-US" sz="153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Costco 實體會員卡：Garðabær 採買與自助加油用</a:t>
            </a:r>
            <a:endParaRPr lang="en-US" sz="1535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準備事項 1/3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準備事項②　衣著裝備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三層洋蔥式穿法｜頭頸、身體、足部各自備齊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頭頸與手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毛帽：完整包覆雙耳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圍脖／魔術頭巾：強風中不會吹散移位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偏光抗 UV 太陽眼鏡：雪地、冰川反光強，防雪盲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手套兩雙：內層觸控薄手套＋外層防風防水滑雪手套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身體三層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內層：美麗諾羊毛或機能排汗發熱衣；發熱褲或羊毛內搭褲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中層：刷毛衣、厚抓絨外套或輕量羽絨衣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外層：GORE-TEX 防風防水連帽外套＋防風防水衝鋒褲（牛仔褲、棉褲濕了會迅速失溫）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足部與泳裝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高筒硬底防水登山靴：冰川健行要求硬底與腳踝支撐，軟底球鞋會被拒絕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簡易冰爪（鏈條式或矽膠多爪）：結冰步道防滑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厚磅美麗諾羊毛襪數雙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泳衣褲、速乾毛巾：藍湖、Hot Tub、Sauna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準備事項 2/3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準備事項③　App、隨車與自炊小物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出國前下載註冊｜冬季日照短、荒郊餐廳少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173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Parka（必備）：拿到車牌後第一時間綁定車牌與信用卡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EasyPark（備用）：雷克雅維克路邊停車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112 Iceland：一鍵傳 GPS 向搜救隊求救、報到打卡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自炊、電力與 3C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58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保溫悶燒罐＋隨身保溫瓶：早上煮好熱湯、熱粥，中午車上吃熱食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便攜餐具、夾鏈袋、保鮮盒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歐規 Type C / F 轉接頭＋延長線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大容量行動電源（貼身保溫）、車用手機架、車充、多孔 USB 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防寒與護理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暖暖包：腳底、手握，也可貼手機背面防低溫關機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護唇膏、護手霜、身體乳：冬季極度乾燥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常備藥：感冒、腸胃、止痛、暈車、痠痛貼布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頭燈或強光手電筒：午後 4 點天黑，開鑰匙盒、找極光用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準備事項 3/3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準備事項（補）　行李準備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人、兩台車（RAV4＋Land Cruiser）｜空間是最大限制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空間與分配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Land Cruiser 若第三排坐人，後行李廂空間會很小，取車前向租車公司確認座位與可載量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先決定兩車各坐幾人，行李多的人分散到兩台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每人以 1 件中型行李＋1 個隨身背包為上限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行李怎麼裝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軟質行李袋比硬殼箱好塞，可壓進縫隙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不建議用車頂箱：強風與保險問題，先問租車公司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過夜只拿一個小包進屋，大件留後廂並遮蓋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護照、錢包、電子產品永遠隨身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兩車共用物資與航程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兩台車各放一套：冰刮、手電筒、充電線、暖暖包、急救包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Costco 採買會增加物資，預留回程與 Day 6 的空間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託運與登機額度以機票條款為準（含轉機段）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行動電源與鋰電池只能放隨身行李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準備事項（補）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準備事項（補）　採買食材的保溫與保存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Costco、超市採買後｜冬季要同時防凍與防熱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車上運送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帶摺疊保冷袋或保冷箱，冬天也有隔熱防凍效果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冷凍肉、海鮮先裝袋，再用毛巾或厚衣物包覆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怕凍的蔬果、雞蛋、牛奶、優格放車內座位區，不放後廂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別放在暖氣出風口旁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夜間與住宿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停車過夜時，食材全部搬進屋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瓶裝水、飲料、罐頭、玻璃罐醬料會結冰脹裂，不留車上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入住先看冰箱容量，連住與換宿前規劃吃完的順序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退房前把剩餘食材集中，吃不完的先送人或丟棄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採買順序與熱食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58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1、Day 6 有 Costco：排在回住宿前的最後一站，買完直接回去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冷凍與生鮮最後拿，結帳後馬上裝袋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隔天熱食：悶燒罐先預熱，隨身保溫瓶裝熱水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人份量大，兩車分裝，生鮮集中在同一台方便控溫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準備事項（補）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重要提醒①　停車、加油與裝備技巧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日常操作的四個小地雷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5207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4944618" cy="23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1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景點停車：無閘門不代表免費</a:t>
            </a:r>
            <a:endParaRPr lang="en-US" sz="1391" dirty="0"/>
          </a:p>
        </p:txBody>
      </p:sp>
      <p:sp>
        <p:nvSpPr>
          <p:cNvPr id="6" name="Text 4"/>
          <p:cNvSpPr/>
          <p:nvPr/>
        </p:nvSpPr>
        <p:spPr>
          <a:xfrm>
            <a:off x="1061072" y="2126531"/>
            <a:ext cx="4891926" cy="143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塞里雅蘭瀑布、羽毛峽谷、冰河湖停車場都有車牌辨識</a:t>
            </a:r>
            <a:endParaRPr lang="en-US" sz="1585" dirty="0"/>
          </a:p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進場後當天內用 Parka 完成繳費</a:t>
            </a:r>
            <a:endParaRPr lang="en-US" sz="1585" dirty="0"/>
          </a:p>
          <a:p>
            <a:pPr algn="l" marL="208928" indent="-208928">
              <a:lnSpc>
                <a:spcPts val="2219"/>
              </a:lnSpc>
              <a:buSzPct val="100000"/>
              <a:buChar char="•"/>
            </a:pPr>
            <a:r>
              <a:rPr lang="en-US" sz="1585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未繳的罰單會寄給租車公司，另收行政處理費（每筆約 3,000–5,000 ISK）</a:t>
            </a:r>
            <a:endParaRPr lang="en-US" sz="1585" dirty="0"/>
          </a:p>
        </p:txBody>
      </p:sp>
      <p:sp>
        <p:nvSpPr>
          <p:cNvPr id="7" name="Shape 5"/>
          <p:cNvSpPr/>
          <p:nvPr/>
        </p:nvSpPr>
        <p:spPr>
          <a:xfrm>
            <a:off x="6172200" y="1686520"/>
            <a:ext cx="5207000" cy="2001507"/>
          </a:xfrm>
          <a:prstGeom prst="roundRect">
            <a:avLst>
              <a:gd name="adj" fmla="val 5076"/>
            </a:avLst>
          </a:prstGeom>
          <a:solidFill>
            <a:srgbClr val="FBE9E2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83892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自助加油：PIN 碼與金額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0358" y="2128441"/>
            <a:ext cx="489204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加油機需輸入 4 碼 PIN（信用卡預借現金密碼），出國前確認已開通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選固定金額（如 5,000 ISK），不選 Fill Up，避免被圈存大額保證金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840435"/>
            <a:ext cx="5207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992835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悶燒罐保溫技巧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0958" y="4282356"/>
            <a:ext cx="489204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裝食物前，先倒滾水預熱內膽 3–5 分鐘再倒掉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再裝滾燙食材，保溫可撐到中午，零下仍有熱食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35"/>
            <a:ext cx="5207000" cy="2001573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75400" y="3992835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簡易冰爪使用時機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0358" y="4282356"/>
            <a:ext cx="489204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只在厚雪、結冰步道、積雪泥濘地面使用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踩上柏油路、石板路或室內地板前先脫下，避免磨損爪釘、打滑摔倒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重要提醒 1/3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重要提醒②　冬季自駕核心原則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每日出發與換點前，先查路況與天氣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每日必查兩大網站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road.is 即時路況：綠＝通行良好、黃＝部分結冰、橘＝滑溜、藍＝極滑、紅＝封閉（實際以網站圖例為準）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vedur.is 氣象局：追蹤強風警報（Yellow / Orange / Red），陣風超過 20 m/s 不要上路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強風開關車門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173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最常見的重大車損：車門被吹翻變形，風損通常不含在一般保險內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停車車頭迎風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開關門雙手握緊門把，不要放手任其彈開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黑冰預防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1447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看似乾燥的柏油可能是薄冰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過彎、下坡、橋樑（特別是南岸單線窄橋）不急煞、不急打方向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提早鬆油門降速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重要提醒 2/3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重要提醒③　特殊景點安全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黑沙灘與塞里雅蘭瀑布｜現場警示優先於拍照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5207000" cy="4155480"/>
          </a:xfrm>
          <a:prstGeom prst="roundRect">
            <a:avLst>
              <a:gd name="adj" fmla="val 2445"/>
            </a:avLst>
          </a:prstGeom>
          <a:solidFill>
            <a:srgbClr val="FBE9E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黑沙灘 Reynisfjara / Dyrhólaey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489204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嚴禁背對大海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隨時警惕無預警撲上岸的瘋狗浪（Sneaker Waves）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遵守現場警告燈號，與浪線保持安全距離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686520"/>
            <a:ext cx="5207000" cy="4155480"/>
          </a:xfrm>
          <a:prstGeom prst="roundRect">
            <a:avLst>
              <a:gd name="adj" fmla="val 2445"/>
            </a:avLst>
          </a:prstGeom>
          <a:solidFill>
            <a:srgbClr val="FBE9E2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83892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塞里雅蘭瀑布（水簾洞瀑布）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0358" y="2128441"/>
            <a:ext cx="489204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冬季瀑布後方階梯常因結冰封閉，不要跨越護欄攀爬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瀑布底水霧很大，下車前外層衝鋒衣褲先拉嚴防濕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結冰步道套上簡易冰爪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重要提醒 3/3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重要提醒（補）　取車檢查清單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1 在 KEF 取車｜15:55 抵達後天色將暗，到燈光下慢慢檢查，不要趕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文件與合約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58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駕照正本、IDP、主駕信用卡；兩台車各登記好駕駛人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核對保險：CDW／SCDW、GP、SAAP、風損，及押金金額與退還時點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確認各車油種（RAV4 與 Land Cruiser 可能不同）、里程限制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確認還車時間、地點與油量規定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車況檢查（拍照＋錄影）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繞車一圈：車身、擋風玻璃、輪圈、車底下緣，既有刮痕都寫進單據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輪胎：冬季釘胎、胎紋、胎壓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冰刮、雪刷、備胎或補胎工具、反光背心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頭燈尾燈手動全開（不靠自動），洗滌液為防凍型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上路前操作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熟悉 4WD 模式、ESC／牽引力控制、手煞車與油箱蓋位置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暖氣、除霧、加熱座椅、USB 與藍牙都試一次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Parka 綁定車牌與信用卡，設好導航與手機架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兩車互留電話、建 LINE／WhatsApp 群組、約好集合點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重要提醒（補）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重要提醒（補）　雪地開車技巧①　共通原則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兩台都是四驅 SUV｜四驅幫起步與抓地，不會縮短煞車距離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5207000" cy="4155480"/>
          </a:xfrm>
          <a:prstGeom prst="roundRect">
            <a:avLst>
              <a:gd name="adj" fmla="val 2445"/>
            </a:avLst>
          </a:prstGeom>
          <a:solidFill>
            <a:srgbClr val="FBE9E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4892040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清除車頂、車窗、頭燈、車牌上的積雪結冰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頭燈與尾燈手動全開，法規要求全天開燈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查 road.is、vedur.is，行程抓白天，避免夜間開車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出發前把目的地與路線登記在 safetravel.is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686520"/>
            <a:ext cx="5207000" cy="4155480"/>
          </a:xfrm>
          <a:prstGeom prst="roundRect">
            <a:avLst>
              <a:gd name="adj" fmla="val 2445"/>
            </a:avLst>
          </a:prstGeom>
          <a:solidFill>
            <a:srgbClr val="FBE9E2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83892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行進中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0358" y="2128441"/>
            <a:ext cx="4892040" cy="173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加速、煞車、轉向都輕柔，不急煞（輪胎鎖死會失控）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跟車距離拉到 4–5 秒；結冰路面約 30–50 km/h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不使用定速巡航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下坡提早鬆油門，用低檔引擎煞車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橋樑、彎道、背陰處提早減速，防黑冰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重要提醒（補）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重要提醒（補）　雪地開車技巧②　車型與卡雪處理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RAV4 與 Land Cruiser 特性不同，滿載 7 人時要更保守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Toyota RAV4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較輕、轉向靈活，AWD 起步抓地好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地隙比 Land Cruiser 低，深雪與積雪路面不要硬衝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有雪地模式可在結冰路面啟用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滿載時煞車距離變長，保持更大車距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Toyota Land Cruiser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車重大、地隙高、通過性強，但煞車距離更長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下坡與彎道要更早減速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車身高、側面積大，強風與橋上側風影響明顯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低速四驅（若有）用於深雪或陡坡起步，一般路面不使用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卡雪時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保持冷靜，方向盤打直，輕踩油門，避免空轉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鏟開輪胎前後積雪，墊腳踏墊增加抓地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 112 Iceland App 或 112 求助，留在車內等待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開引擎暖車前，先確認排氣管沒被雪堵住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重要提醒（補）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補充　可能缺漏的項目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建議出發前確認｜以下為我依經驗補充，非原文件內容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5207000" cy="4155480"/>
          </a:xfrm>
          <a:prstGeom prst="roundRect">
            <a:avLst>
              <a:gd name="adj" fmla="val 2445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4892040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ETIAS：目前尚未啟用，出發前再查官方公告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EES 入境會錄指紋與臉部，赫爾辛基轉機預留排隊時間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手機網路：eSIM 或 SIM 卡，並下載 Google Maps 離線地圖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信用卡備兩張：一張押金、一張加油與日常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 safetravel.is 登記行程，並分享給家人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686520"/>
            <a:ext cx="5207000" cy="4155480"/>
          </a:xfrm>
          <a:prstGeom prst="roundRect">
            <a:avLst>
              <a:gd name="adj" fmla="val 244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838920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租車與路上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0358" y="2128441"/>
            <a:ext cx="4892040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取車時拍影片驗車，確認冬胎、冰刮、雪刷與備胎／補胎工具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確認保險是否含風損、砂石與沙塵（GP、SAAP）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不走 F 路與冬季封閉的山路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日照約 5–7 小時，行程抓白天、夜間不趕路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極光看 vedur.is 預報與雲量，帶腳架與備用電池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小鎮加油站間距長，油量剩一半就加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自來水可直接喝，帶水壺即可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補充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準備清單①　文件、保險與 App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出發前逐項打勾｜紙本與離線 PDF 各備一份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證件與自駕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300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護照（效期 6 個月以上）＋影本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台灣駕照正本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國際駕照 IDP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主駕英文姓名實體信用卡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第二駕駛：駕照＋IDP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信用卡 PIN 碼已開通（加油）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保險與憑證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申根醫療險英文證明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旅遊平安與不便險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車險英文保單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機票行程單（含轉機）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住宿確認單與門禁密碼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冰川、藍湖、熔岩秀預約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Costco 實體會員卡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 與網路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Parka（拿到車牌後綁定）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EasyPark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112 Iceland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safetravel.is 登記行程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eSIM／SIM＋離線地圖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ETIAS 官方公告再確認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備兩張信用卡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準備清單 1/2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準備清單②　衣著、隨身與租車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2420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三層穿法＋隨車小物＋取車前確認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E3EE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衣著裝備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958" y="2128441"/>
            <a:ext cx="3051979" cy="286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毛帽、圍脖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偏光抗 UV 太陽眼鏡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手套兩雙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排汗發熱內層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刷毛或羽絨中層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GORE-TEX 外套＋衝鋒褲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高筒硬底防水登山靴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簡易冰爪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羊毛襪數雙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泳衣褲、速乾毛巾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5733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88933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C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隨身與自炊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3891" y="2128441"/>
            <a:ext cx="3051979" cy="258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悶燒罐＋保溫瓶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餐具、夾鏈袋、保冷袋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Type C / F 轉接頭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行動電源、車充、手機架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暖暖包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護唇膏、護手霜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常備藥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頭燈或手電筒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軟質行李袋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8667" y="1686520"/>
            <a:ext cx="3420533" cy="4155480"/>
          </a:xfrm>
          <a:prstGeom prst="roundRect">
            <a:avLst>
              <a:gd name="adj" fmla="val 2970"/>
            </a:avLst>
          </a:prstGeom>
          <a:solidFill>
            <a:srgbClr val="FBE9E2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67" y="1838920"/>
            <a:ext cx="3104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D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租車與每日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6825" y="2128441"/>
            <a:ext cx="305197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確認冬胎與冰刮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確認風損、GP、SAAP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取車繞車拍照錄影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確認兩車油種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確認座位與行李空間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兩車群組與集合點</a:t>
            </a:r>
            <a:endParaRPr lang="en-US" sz="1600" dirty="0"/>
          </a:p>
          <a:p>
            <a:pPr algn="l" marL="209042" indent="-2090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☐　每日查 road.is、vedur.is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冰島自助旅遊 2027/1/22–2/3　準備清單 2/2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冰島自助旅遊 2027/1/22–2/3 每日行程">
  <a:themeElements>
    <a:clrScheme name="冰島自助旅遊 2027/1/22–2/3 每日行程">
      <a:dk1>
        <a:srgbClr val="12263A"/>
      </a:dk1>
      <a:lt1>
        <a:srgbClr val="F4F1EA"/>
      </a:lt1>
      <a:dk2>
        <a:srgbClr val="4B5966"/>
      </a:dk2>
      <a:lt2>
        <a:srgbClr val="DDDDD8"/>
      </a:lt2>
      <a:accent1>
        <a:srgbClr val="1B6CA8"/>
      </a:accent1>
      <a:accent2>
        <a:srgbClr val="A63D24"/>
      </a:accent2>
      <a:accent3>
        <a:srgbClr val="5B6773"/>
      </a:accent3>
      <a:accent4>
        <a:srgbClr val="CFDBE5"/>
      </a:accent4>
      <a:accent5>
        <a:srgbClr val="9AA0A6"/>
      </a:accent5>
      <a:accent6>
        <a:srgbClr val="6C7780"/>
      </a:accent6>
      <a:hlink>
        <a:srgbClr val="0563C1"/>
      </a:hlink>
      <a:folHlink>
        <a:srgbClr val="954F72"/>
      </a:folHlink>
    </a:clrScheme>
    <a:fontScheme name="冰島自助旅遊 2027/1/22–2/3 每日行程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冰島自助旅遊 2027/1/22–2/3 每日行程</dc:title>
  <dc:subject/>
  <dc:creator/>
  <cp:lastModifiedBy/>
  <cp:revision>1</cp:revision>
  <dcterms:created xsi:type="dcterms:W3CDTF">2026-10-28T01:37:15Z</dcterms:created>
  <dcterms:modified xsi:type="dcterms:W3CDTF">2026-10-28T01:37:15Z</dcterms:modified>
</cp:coreProperties>
</file>